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99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44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449316"/>
            <a:ext cx="6429375" cy="495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The Last Mile Logistics Auditor</a:t>
            </a:r>
            <a:endParaRPr lang="en-US" sz="3600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3341" y="2325953"/>
            <a:ext cx="8429625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Auditing Delivery Performance &amp; Customer Experience to Drive Operational Excellence</a:t>
            </a:r>
            <a:endParaRPr lang="en-US" sz="1700" dirty="0">
              <a:latin typeface="Garamond" panose="02020404030301010803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9284" y="3697881"/>
            <a:ext cx="8429625" cy="4250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29467" y="2791105"/>
            <a:ext cx="8429625" cy="7144"/>
          </a:xfrm>
          <a:prstGeom prst="rect">
            <a:avLst/>
          </a:prstGeom>
          <a:solidFill>
            <a:srgbClr val="778DA9"/>
          </a:solidFill>
          <a:ln/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3340" y="2867634"/>
            <a:ext cx="8429625" cy="51680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0E1DD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Project: Delivery Performance Analysis
Prepared for: Veridi Logistics Strategic Review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2AF334-F948-B69F-FADE-9892B4666DDE}"/>
              </a:ext>
            </a:extLst>
          </p:cNvPr>
          <p:cNvSpPr txBox="1"/>
          <p:nvPr/>
        </p:nvSpPr>
        <p:spPr>
          <a:xfrm>
            <a:off x="799284" y="3695845"/>
            <a:ext cx="3888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Garamond" panose="02020404030301010803" pitchFamily="18" charset="0"/>
              </a:rPr>
              <a:t>Presented By :  </a:t>
            </a:r>
            <a:r>
              <a:rPr lang="en-US" sz="1600" b="1" dirty="0">
                <a:solidFill>
                  <a:schemeClr val="bg1"/>
                </a:solidFill>
                <a:latin typeface="Garamond" panose="02020404030301010803" pitchFamily="18" charset="0"/>
              </a:rPr>
              <a:t>NIYIGENA Abdoul Razak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65138E-3456-D01F-6F8B-6DF3E68E04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22" r="9064"/>
          <a:stretch>
            <a:fillRect/>
          </a:stretch>
        </p:blipFill>
        <p:spPr>
          <a:xfrm>
            <a:off x="6812280" y="26408"/>
            <a:ext cx="2279468" cy="698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2947A2-DA75-A7BE-240A-568B5339E6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644" y="3090090"/>
            <a:ext cx="999595" cy="9995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E55EA6-FCC5-8972-677F-A8F05D6020F8}"/>
              </a:ext>
            </a:extLst>
          </p:cNvPr>
          <p:cNvSpPr txBox="1"/>
          <p:nvPr/>
        </p:nvSpPr>
        <p:spPr>
          <a:xfrm>
            <a:off x="6056765" y="4156184"/>
            <a:ext cx="1761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</a:rPr>
              <a:t>“Scan QR Code”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</a:rPr>
              <a:t>To access all files 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78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VERIDI LOGISTICS FACES A CRITICAL TRUST DEFICIT</a:t>
            </a:r>
            <a:endParaRPr lang="en-US" sz="2000" dirty="0">
              <a:latin typeface="Garamond" panose="02020404030301010803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01524"/>
            <a:ext cx="357188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1563" y="1739922"/>
            <a:ext cx="193942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The Current Crisis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1500" y="2201386"/>
            <a:ext cx="3568303" cy="136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Veridi Logistics is experiencing a significant surge in negative customer reviews and declining satisfaction scores. The marketplace ecosystem is threatened by a growing wave of consumer dissatisfaction.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32145" y="4307951"/>
            <a:ext cx="3568303" cy="43088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Customer sentiment is at an all-time low, primarily driven by logistics failures.</a:t>
            </a:r>
            <a:endParaRPr lang="en-US" sz="1400" b="1" dirty="0">
              <a:latin typeface="Garamond" panose="02020404030301010803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197" y="1701524"/>
            <a:ext cx="285750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32821" y="1739922"/>
            <a:ext cx="230038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The CEO's Hypothesis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004197" y="2201386"/>
            <a:ext cx="3568303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The issue extends beyond simple delays; it is driven by a systemic failure in delivery promises—over-promising and under-delivering. The gap between expectation and reality is the true problem.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857750" y="4092507"/>
            <a:ext cx="3568303" cy="6463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Are delivery failures isolated regional anomalies or indicative of a widespread breakdown?</a:t>
            </a:r>
            <a:endParaRPr lang="en-US" sz="1400" b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2872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9432" y="557296"/>
            <a:ext cx="8624751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OBJECTIVE: LINKING LOGISTICS DATA TO CUSTOMER SENTIMENT</a:t>
            </a:r>
            <a:endParaRPr lang="en-US" sz="2000" dirty="0">
              <a:latin typeface="Garamond" panose="02020404030301010803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675" y="1679719"/>
            <a:ext cx="214313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0740" y="2343022"/>
            <a:ext cx="2034183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AUDIT PERFORMANCE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42386" y="2903086"/>
            <a:ext cx="2210889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Conduct a comprehensive audit of delivery performance to identify systemic failures across the network.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097" y="1679719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80364" y="2343022"/>
            <a:ext cx="2064544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IDENTIFY ROOT CAUSE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437610" y="2901122"/>
            <a:ext cx="2381894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Link granular logistics timelines with customer review scores to quantify the impact of operational failures.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238" y="1679719"/>
            <a:ext cx="285750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61326" y="2343022"/>
            <a:ext cx="1466255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RESTORE TRUST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6390885" y="2903086"/>
            <a:ext cx="2423892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Provide data-driven recommendations to stabilize the delivery network and restore customer confidence.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571500" y="4009355"/>
            <a:ext cx="8001000" cy="473078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The ultimate goal is to bridge the gap between operational performance and customer expectations.</a:t>
            </a:r>
            <a:endParaRPr lang="en-US" sz="1400" b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DATA OVERVIEW: THE OLIST E-COMMERCE ECOSYSTEM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507882"/>
            <a:ext cx="28575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Primary Source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948876"/>
            <a:ext cx="2857500" cy="1834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Analysis is based on the Olist E-Commerce Dataset, a comprehensive record of a major Brazilian marketplace. This data provides a holistic view of the customer journey from order to delivery and review.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519" y="1461315"/>
            <a:ext cx="175022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9131" y="1463656"/>
            <a:ext cx="178593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Orders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409454" y="1700811"/>
            <a:ext cx="1925292" cy="1019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Detailed delivery timelines including estimated vs. actual dates for 99,992 unique orders.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666" y="1461315"/>
            <a:ext cx="225028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71407" y="1471650"/>
            <a:ext cx="173593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Reviews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824067" y="1772642"/>
            <a:ext cx="2087762" cy="761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Direct customer sentiment and rating scores linked to specific logistics outcomes.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5509" y="2940494"/>
            <a:ext cx="150019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43413" y="2946825"/>
            <a:ext cx="181094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Customers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4273544" y="3204677"/>
            <a:ext cx="2197112" cy="1019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Geographic location data enabling regional performance tracking and state-level auditing.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248" y="2962244"/>
            <a:ext cx="200025" cy="20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11566" y="2946825"/>
            <a:ext cx="1760934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Products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6769392" y="3284367"/>
            <a:ext cx="2197112" cy="761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Category-specific handling requirements and performance metrics across the marketplace.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570214"/>
            <a:ext cx="119658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91170" y="4529892"/>
            <a:ext cx="578409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TOTAL AUDIT SCOPE: 99,992 UNIQUE MARKETPLACE ORDERS</a:t>
            </a:r>
            <a:endParaRPr lang="en-US" sz="1400" b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99" y="618353"/>
            <a:ext cx="8147957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DATA ENGINEERING: BUILDING THE UNIFIED AUDIT SCHEMA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568472"/>
            <a:ext cx="22812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STAGE 01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968522"/>
            <a:ext cx="22812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Multi-Source Ingestion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297491"/>
            <a:ext cx="2281228" cy="1636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Extracted raw data from four primary tables: Orders, Reviews, Customers, and Products. This multi-dimensional approach ensures a 360-degree view of the delivery lifecycle.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431372" y="1568472"/>
            <a:ext cx="22812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STAGE 02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431372" y="1968522"/>
            <a:ext cx="228122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Relational Joining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438516" y="2297491"/>
            <a:ext cx="2281228" cy="1636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Datasets were joined into a master audit table using unique order_id and customer_id keys. This process linked logistics timelines directly with customer sentiment scores.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91244" y="1568472"/>
            <a:ext cx="228125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STAGE 03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91244" y="1968522"/>
            <a:ext cx="228125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Integrity Validation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91244" y="2297491"/>
            <a:ext cx="2281256" cy="1636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Rigorous cleaning was performed to remove duplicate order IDs and handle missing delivery dates, ensuring the final dataset is statistically sound and reliable.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91244" y="4047170"/>
            <a:ext cx="2281256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99,992</a:t>
            </a:r>
            <a:endParaRPr lang="en-US" sz="2400" dirty="0">
              <a:latin typeface="Garamond" panose="020204040303010108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91244" y="4424870"/>
            <a:ext cx="2114704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0E1DD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UNIQUE ORDERS IN MASTER SCHEMA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949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DEFINING THE METRIC: THE "DELIVERY DELAY" FRAMEWORK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704203"/>
            <a:ext cx="8001000" cy="871538"/>
          </a:xfrm>
          <a:prstGeom prst="rect">
            <a:avLst/>
          </a:prstGeom>
          <a:solidFill>
            <a:srgbClr val="778DA9">
              <a:alpha val="10000"/>
            </a:srgbClr>
          </a:solidFill>
          <a:ln w="9144">
            <a:solidFill>
              <a:srgbClr val="778DA9"/>
            </a:solidFill>
            <a:prstDash val="solid"/>
          </a:ln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12624" y="2015675"/>
            <a:ext cx="6918722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Days Difference = Estimated Delivery Date — Actual Delivery Date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3140097"/>
            <a:ext cx="24764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8DA9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PERFORMANCE TIER 01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739393"/>
            <a:ext cx="24764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On Time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3427916"/>
            <a:ext cx="2476481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Orders delivered on or before the promised date. This represents the baseline for customer satisfaction and operational success.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33730" y="3147240"/>
            <a:ext cx="247650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8DA9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PERFORMANCE TIER 02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79451" y="2739393"/>
            <a:ext cx="247650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Late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333731" y="3443122"/>
            <a:ext cx="2476509" cy="136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Orders delivered after the promised date, with a delay of up to 5 days. These represent minor inconveniences that begin to erode trust.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95991" y="3147240"/>
            <a:ext cx="24764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8DA9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PERFORMANCE TIER 03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95990" y="2739393"/>
            <a:ext cx="24764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Super Late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96019" y="3441841"/>
            <a:ext cx="2476481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Orders delivered more than 5 days after the promised date. These are critical service failures that drive the majority of negative sentiment.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-248194" y="4609142"/>
            <a:ext cx="9144000" cy="589777"/>
          </a:xfrm>
          <a:prstGeom prst="rect">
            <a:avLst/>
          </a:prstGeom>
          <a:noFill/>
          <a:ln/>
        </p:spPr>
        <p:txBody>
          <a:bodyPr wrap="square" lIns="680339" tIns="340233" rIns="680339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*This framework allows for the distinction between minor operational friction and systemic service breakdowns.</a:t>
            </a:r>
            <a:endParaRPr lang="en-US" sz="16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GEOGRAPHIC ANALYSIS: IDENTIFYING REGIONAL HOTSPOTS</a:t>
            </a:r>
            <a:endParaRPr lang="en-US" sz="2000" dirty="0">
              <a:latin typeface="Garamond" panose="02020404030301010803" pitchFamily="18" charset="0"/>
            </a:endParaRPr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6615" y="1282722"/>
            <a:ext cx="4670395" cy="3214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08502" y="1544895"/>
            <a:ext cx="21359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Regional Disparities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008503" y="1863489"/>
            <a:ext cx="2913430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Delivery performance is not uniform across Brazil. Northern and Northeastern states exhibit significantly higher failure rates.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079837" y="3344197"/>
            <a:ext cx="213598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Critical Failure Point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008503" y="3663349"/>
            <a:ext cx="3012280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Alagoas (AL) leads with a </a:t>
            </a: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23.9%</a:t>
            </a: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 late delivery rate, followed by Maranhão (MA) at </a:t>
            </a: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19.7%</a:t>
            </a: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. These regions require immediate logistics partner audits.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6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THE SENTIMENT LINK: DELAYS DIRECTLY CORRELATE TO RATINGS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10798" y="1941078"/>
            <a:ext cx="4886325" cy="2485480"/>
          </a:xfrm>
          <a:prstGeom prst="rect">
            <a:avLst/>
          </a:prstGeom>
          <a:solidFill>
            <a:srgbClr val="778DA9">
              <a:alpha val="5000"/>
            </a:srgbClr>
          </a:solidFill>
          <a:ln w="9144">
            <a:solidFill>
              <a:srgbClr val="778DA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409813"/>
            <a:ext cx="4643438" cy="1714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86388" y="1558699"/>
            <a:ext cx="295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The Satisfaction Gradient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402994" y="1789085"/>
            <a:ext cx="3381500" cy="80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Satisfaction stays high (4.29) for on-time deliveries but drops quickly with any delay - even slight lateness moves scores to 3.59.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386388" y="2743257"/>
            <a:ext cx="295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The "Point of No Return"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386388" y="3000547"/>
            <a:ext cx="3741006" cy="533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"Super Late" orders (&gt;5 days) are a critical failure: review scores fall to </a:t>
            </a: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1.85</a:t>
            </a: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, signaling lost trust.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402994" y="3820093"/>
            <a:ext cx="29575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Strategic Impact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402994" y="4092680"/>
            <a:ext cx="3558126" cy="533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These extreme negatives drive most 1-star reviews and disproportionately harm brand reputation.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DASHBOARD INSIGHTS: DELIVERY DYNAMICS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14337" y="1258957"/>
            <a:ext cx="5041039" cy="3439501"/>
          </a:xfrm>
          <a:prstGeom prst="rect">
            <a:avLst/>
          </a:prstGeom>
          <a:solidFill>
            <a:srgbClr val="778DA9">
              <a:alpha val="5000"/>
            </a:srgbClr>
          </a:solidFill>
          <a:ln w="9144">
            <a:solidFill>
              <a:srgbClr val="778DA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4375" y="1554184"/>
            <a:ext cx="495299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Review Score Distribution by Days Difference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01" y="1810522"/>
            <a:ext cx="4943475" cy="2714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475" y="1328443"/>
            <a:ext cx="247650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8DA9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NETWORK AVERAGE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095991" y="1495150"/>
            <a:ext cx="2476509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4.08</a:t>
            </a:r>
            <a:endParaRPr lang="en-US" sz="3600" dirty="0">
              <a:latin typeface="Garamond" panose="02020404030301010803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915856" y="2000347"/>
            <a:ext cx="2647128" cy="431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Overall customer satisfaction remains high but is sensitive to delivery accuracy.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086475" y="2627822"/>
            <a:ext cx="247650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8DA9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PEAK PERFORMANCE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086475" y="2848286"/>
            <a:ext cx="2476509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0 Days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925773" y="3204918"/>
            <a:ext cx="3048009" cy="431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Most of the positive sentiment is concentrated at the zero-day difference (On-Time delivery).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095991" y="3886619"/>
            <a:ext cx="247650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8DA9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THE LONG TAIL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086475" y="4102063"/>
            <a:ext cx="2476509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Super Late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095991" y="4474192"/>
            <a:ext cx="3048009" cy="431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Sentiment decays rapidly as the 'Days Difference' moves into the negative (late) zone.</a:t>
            </a:r>
            <a:endParaRPr lang="en-US" sz="12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70263"/>
            <a:ext cx="9144000" cy="5613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98" y="115841"/>
            <a:ext cx="800100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ROOT CAUSE: UNRELIABLE ESTIMATES DRIVE DISSATISFACTION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498" y="1465304"/>
            <a:ext cx="7858125" cy="236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The primary issue is not just the delay itself, but the unreliability of delivery promises.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2464028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8DA9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THE EXPECTATION GAP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906120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Inaccurate Estimates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498" y="3348212"/>
            <a:ext cx="3568303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Customers receive unrealistic delivery dates that fail to account for regional complexities. This creates a </a:t>
            </a:r>
            <a:r>
              <a:rPr lang="en-US" sz="1400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psychological breach of contract</a:t>
            </a: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 even when actual delays are minor.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25820" y="2459798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78DA9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OPERATIONAL FAILURE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04197" y="2904334"/>
            <a:ext cx="356830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Model Inaccuracy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04197" y="3367075"/>
            <a:ext cx="3568303" cy="108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Current prediction models are too optimistic. They ignore the </a:t>
            </a:r>
            <a:r>
              <a:rPr lang="en-US" sz="1400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high-risk variables</a:t>
            </a: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 associated with specific product categories and underperforming geographic regions.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067" y="-20496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432" y="448213"/>
            <a:ext cx="8001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BUSINESS IMPACT: THE COST OF LOGISTICS FAILURE</a:t>
            </a:r>
            <a:endParaRPr lang="en-US" sz="2000" dirty="0">
              <a:latin typeface="Garamond" panose="02020404030301010803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20" y="1447088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7256" y="1447088"/>
            <a:ext cx="1927384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EROSION OF TRUST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50020" y="1858556"/>
            <a:ext cx="2476509" cy="1735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Inaccurate delivery promises erode the core value proposition of Veridi Logistics. When expectations are consistently missed, customer loyalty evaporates, leading to high churn rates.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50019" y="3787578"/>
            <a:ext cx="247650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PRIMARY RISK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71500" y="4039891"/>
            <a:ext cx="2476509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0E1DD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Long-term decline in Customer Lifetime Value (CLV).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4438" y="1446001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69515" y="1474981"/>
            <a:ext cx="207814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BRAND CONTAGION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326677" y="1882639"/>
            <a:ext cx="2476509" cy="1442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A surge in negative reviews creates a "Brand Contagion" effect. Prospective buyers are discouraged by public 1-star ratings, increasing customer acquisition costs (CAC).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326676" y="3749087"/>
            <a:ext cx="247650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PRIMARY RISK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3318402" y="4052833"/>
            <a:ext cx="2476509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0E1DD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Systemic damage to marketplace reputation and growth.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6758" y="1461825"/>
            <a:ext cx="257175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11222" y="1477536"/>
            <a:ext cx="240279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ECOSYSTEM INSTABILITY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167865" y="1918619"/>
            <a:ext cx="2476509" cy="1442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Chronic delivery failures risk losing high-quality sellers who fear for their own ratings. This destabilizes the entire marketplace ecosystem for both buyers and sellers.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6106758" y="3759395"/>
            <a:ext cx="2476509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PRIMARY RISK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112627" y="4056207"/>
            <a:ext cx="2476509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0E1DD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Loss of competitive edge to more reliable logistics networks.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RECOMMENDATIONS: RESTORING DELIVERY INTEGRITY</a:t>
            </a:r>
            <a:endParaRPr lang="en-US" sz="2000" dirty="0">
              <a:latin typeface="Garamond" panose="02020404030301010803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47921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0106" y="1447028"/>
            <a:ext cx="178058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PREDICTIVE ACCURACY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86591" y="1909188"/>
            <a:ext cx="3929063" cy="533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Revise delivery-time models with regional and category inputs to produce dynamic, data-driven forecasts.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80468" y="2727165"/>
            <a:ext cx="4248695" cy="236219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kern="0" spc="1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TARGET: 25% REDUCTION IN ESTIMATION ERROR</a:t>
            </a:r>
            <a:endParaRPr lang="en-US" sz="1200" dirty="0">
              <a:latin typeface="Garamond" panose="02020404030301010803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1447921"/>
            <a:ext cx="21431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4906" y="1447028"/>
            <a:ext cx="1687711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REALISTIC PROMISING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643438" y="1936396"/>
            <a:ext cx="3929063" cy="533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Set more conservative EDDs and prioritize under-promise, over-deliver to manage expectations.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729163" y="2720815"/>
            <a:ext cx="3929063" cy="266996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kern="0" spc="1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GOAL</a:t>
            </a:r>
            <a:r>
              <a:rPr lang="en-US" sz="1400" kern="0" spc="1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: INCREASE EDD RELIABILITY BY 40%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60424"/>
            <a:ext cx="192881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1538" y="3259531"/>
            <a:ext cx="175914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REGIONAL FOCUS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71499" y="3531588"/>
            <a:ext cx="3745775" cy="533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Target high-risk states with partner audits and last-mile routing optimizations.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71499" y="4176836"/>
            <a:ext cx="3929063" cy="266996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kern="0" spc="1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FOCUS: TOP 5 UNDERPERFORMING STATES</a:t>
            </a:r>
            <a:endParaRPr lang="en-US" sz="1400" dirty="0">
              <a:latin typeface="Garamond" panose="02020404030301010803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438" y="3260424"/>
            <a:ext cx="171450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22044" y="3259531"/>
            <a:ext cx="190559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RISK MONITORING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4643437" y="3531588"/>
            <a:ext cx="3929063" cy="533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Add real-time monitoring and early warnings for high-risk categories to prevent "Super Late" orders.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4688085" y="4176836"/>
            <a:ext cx="3929063" cy="266996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kern="0" spc="1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IMPACT: MITIGATE 1-STAR REVIEW DRIVERS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285751" y="4635255"/>
            <a:ext cx="9144000" cy="3071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0" y="4693444"/>
            <a:ext cx="9144000" cy="7144"/>
          </a:xfrm>
          <a:prstGeom prst="rect">
            <a:avLst/>
          </a:prstGeom>
          <a:solidFill>
            <a:srgbClr val="D6DDE5"/>
          </a:solidFill>
          <a:ln/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20003" y="4588917"/>
            <a:ext cx="9144000" cy="417935"/>
          </a:xfrm>
          <a:prstGeom prst="rect">
            <a:avLst/>
          </a:prstGeom>
          <a:noFill/>
          <a:ln/>
        </p:spPr>
        <p:txBody>
          <a:bodyPr wrap="square" lIns="680339" tIns="170053" rIns="680339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Restoring trust requires operational precision and honest communication.</a:t>
            </a:r>
            <a:endParaRPr lang="en-US" sz="16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BONUS INSIGHT: CATEGORY IMPACT ON DELIVERY PERFORMANCE</a:t>
            </a:r>
            <a:endParaRPr lang="en-US" sz="2000" dirty="0">
              <a:latin typeface="Garamond" panose="02020404030301010803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46052"/>
            <a:ext cx="4444637" cy="29682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69203" y="1589597"/>
            <a:ext cx="242173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Operational Complexity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869203" y="1852259"/>
            <a:ext cx="2771877" cy="45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Product category influences timelines; bulky items need specialized handling.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908391" y="2556502"/>
            <a:ext cx="242173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High-Risk Segments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908391" y="2857737"/>
            <a:ext cx="2556340" cy="45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Home Comfort</a:t>
            </a:r>
            <a:r>
              <a:rPr lang="en-US" sz="12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 and </a:t>
            </a:r>
            <a:r>
              <a:rPr lang="en-US" sz="1200" b="1" dirty="0">
                <a:solidFill>
                  <a:srgbClr val="F3722C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Furniture</a:t>
            </a:r>
            <a:r>
              <a:rPr lang="en-US" sz="12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 show the highest late rates (&gt;13%).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908391" y="3549578"/>
            <a:ext cx="242173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Strategic Prioritization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908391" y="3905172"/>
            <a:ext cx="2421731" cy="45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778DA9"/>
                </a:solidFill>
                <a:latin typeface="Garamond" panose="02020404030301010803" pitchFamily="18" charset="0"/>
                <a:ea typeface="Montserrat Light" pitchFamily="34" charset="-122"/>
                <a:cs typeface="Montserrat Light" pitchFamily="34" charset="-120"/>
              </a:rPr>
              <a:t>Prioritize logistics for these categories to reduce customer impact.</a:t>
            </a:r>
            <a:endParaRPr lang="en-US" sz="12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526011"/>
            <a:ext cx="7429500" cy="295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Conclusion: Accuracy is the Key to Customer Experience</a:t>
            </a:r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92994" y="1465724"/>
            <a:ext cx="7193756" cy="50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Systemic Expectation Gap: Delivery delays, combined with inaccurate expectations, are the primary drivers of Veridi Logistics' current trust crisis.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92994" y="2394412"/>
            <a:ext cx="7193756" cy="50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Operational Imperative: Fixing prediction accuracy and addressing regional logistics bottlenecks in high-risk states like AL and MA is non-negotiable.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92994" y="3323099"/>
            <a:ext cx="7193756" cy="50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aramond" panose="02020404030301010803" pitchFamily="18" charset="0"/>
                <a:ea typeface="Montserrat Bold" pitchFamily="34" charset="-122"/>
                <a:cs typeface="Montserrat Bold" pitchFamily="34" charset="-120"/>
              </a:rPr>
              <a:t>Strategic Shift: Moving from optimistic to realistic promising will stabilize customer sentiment and protect long-term brand equity.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7250" y="4444668"/>
            <a:ext cx="74295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3722C"/>
                </a:solidFill>
                <a:latin typeface="Garamond" panose="02020404030301010803" pitchFamily="18" charset="0"/>
                <a:ea typeface="Montserrat Medium" pitchFamily="34" charset="-122"/>
                <a:cs typeface="Montserrat Medium" pitchFamily="34" charset="-120"/>
              </a:rPr>
              <a:t>"In the last mile, a realistic promise is more valuable than an optimistic one."</a:t>
            </a:r>
            <a:endParaRPr lang="en-US" sz="16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1230</Words>
  <Application>Microsoft Office PowerPoint</Application>
  <PresentationFormat>On-screen Show (16:9)</PresentationFormat>
  <Paragraphs>141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ABDOUL RAZAK NIYIGENA</cp:lastModifiedBy>
  <cp:revision>24</cp:revision>
  <dcterms:created xsi:type="dcterms:W3CDTF">2026-04-26T22:21:48Z</dcterms:created>
  <dcterms:modified xsi:type="dcterms:W3CDTF">2026-04-26T23:18:04Z</dcterms:modified>
</cp:coreProperties>
</file>